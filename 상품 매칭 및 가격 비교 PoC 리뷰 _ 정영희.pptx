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1"/>
  </p:notesMasterIdLst>
  <p:sldIdLst>
    <p:sldId id="267" r:id="rId2"/>
    <p:sldId id="269" r:id="rId3"/>
    <p:sldId id="270" r:id="rId4"/>
    <p:sldId id="279" r:id="rId5"/>
    <p:sldId id="272" r:id="rId6"/>
    <p:sldId id="275" r:id="rId7"/>
    <p:sldId id="276" r:id="rId8"/>
    <p:sldId id="273" r:id="rId9"/>
    <p:sldId id="27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8A6A"/>
    <a:srgbClr val="F6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723" autoAdjust="0"/>
  </p:normalViewPr>
  <p:slideViewPr>
    <p:cSldViewPr snapToGrid="0">
      <p:cViewPr>
        <p:scale>
          <a:sx n="75" d="100"/>
          <a:sy n="75" d="100"/>
        </p:scale>
        <p:origin x="191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791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결과확인 시</a:t>
            </a:r>
            <a:r>
              <a:rPr lang="en-US" altLang="ko-KR"/>
              <a:t>, </a:t>
            </a:r>
            <a:r>
              <a:rPr lang="ko-KR" altLang="en-US"/>
              <a:t>자동 검증 미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594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상품 점검 방법에 이처럼 </a:t>
            </a:r>
            <a:r>
              <a:rPr lang="ko-KR" altLang="en-US" dirty="0" err="1"/>
              <a:t>매칭평가와</a:t>
            </a:r>
            <a:r>
              <a:rPr lang="ko-KR" altLang="en-US" dirty="0"/>
              <a:t> 같은 자동 검증 방법 </a:t>
            </a:r>
            <a:r>
              <a:rPr lang="en-US" altLang="ko-KR" dirty="0"/>
              <a:t>/ </a:t>
            </a:r>
            <a:r>
              <a:rPr lang="ko-KR" altLang="en-US" dirty="0"/>
              <a:t>운영자판단 및 추적 점검을 할 수 있도록 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14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91EB0-7A0E-E308-58D1-9ADF01335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2884D6-1F9A-16E6-7C0F-60AD87847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2227B7-2BC8-04AC-EA69-04B39B102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E3B96C-5BC6-C845-D2FA-DE9A021D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72DED9-3B57-E95F-BE69-68B83819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85357F-9EFC-C225-3C9C-D13A074980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42"/>
            <a:ext cx="12192000" cy="170688"/>
          </a:xfrm>
          <a:prstGeom prst="rect">
            <a:avLst/>
          </a:prstGeom>
          <a:solidFill>
            <a:srgbClr val="188A6A"/>
          </a:solidFill>
        </p:spPr>
      </p:pic>
    </p:spTree>
    <p:extLst>
      <p:ext uri="{BB962C8B-B14F-4D97-AF65-F5344CB8AC3E}">
        <p14:creationId xmlns:p14="http://schemas.microsoft.com/office/powerpoint/2010/main" val="2181738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2C08E-E9AD-E086-67E4-46909185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FCE66-29D7-D045-D3A6-81C969A37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C6EF2B-A2EC-0831-BA67-CCDFFE18F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CDF234-2EF2-3D09-579F-74175318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C90DCF-B5AA-3A76-5223-35CEAA36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953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18C06-CFE0-A819-9B99-218D56F1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A9F130-034E-9FE9-F46B-28177BC36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32F057-055C-D05A-296C-E4941187C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08894-BE98-6CE2-FFAE-3EE04577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37A3C1-DC61-8D33-89B0-AD8B122F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717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FDA45-C4F3-425E-4F92-577D7CAA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F0922D-F1BE-A62C-B881-3EE72E9E0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AE7D99-EC3C-45FB-F460-0807B981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27D53C-3595-86B6-0808-2E46BF4D5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B0B0C5-2AF7-96D0-BC33-25FE4D297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8C02BD-4AC0-9FB6-BDA7-F19274FF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015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B9219-4A5F-A585-F3E5-7EC566EF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28A758-ECCA-614F-36F0-34857C10E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8FD5DF-5C6C-0C97-25F8-F0526C82E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1FC849C-048D-953E-5003-9CBC88B36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27D6AD-E8B8-326D-6A23-02DEDECAB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82FBFE2-D102-1386-C326-E48969816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3E8272-56AC-627F-F97C-628D39DB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46A5DC-4F33-3266-2D09-651DF365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35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EA4B4-45E7-09C0-EECD-2C882C442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5FBDD0-EF5C-88F6-3699-0BDFCB44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2B9FA3-6613-FE97-A749-7BD49964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479E48-BC61-600D-5D2F-84916939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535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91497-C676-982B-A303-BE947328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91" y="322810"/>
            <a:ext cx="10398991" cy="592456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5C40BD-7BE1-5116-2AE2-CA6A63A1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73D184-0DF0-804B-AE12-D2D9D6951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5412C1-0173-893E-CA5C-D4976257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8472BC-7151-5DCE-0B16-E33E2A7BF0A5}"/>
              </a:ext>
            </a:extLst>
          </p:cNvPr>
          <p:cNvSpPr>
            <a:spLocks noGrp="1"/>
          </p:cNvSpPr>
          <p:nvPr userDrawn="1"/>
        </p:nvSpPr>
        <p:spPr>
          <a:xfrm flipV="1">
            <a:off x="315191" y="915266"/>
            <a:ext cx="11561618" cy="45719"/>
          </a:xfrm>
          <a:prstGeom prst="rect">
            <a:avLst/>
          </a:prstGeom>
          <a:solidFill>
            <a:srgbClr val="188A6A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548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467C9-5A7C-E792-D921-7E74D5E0A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330F31-C533-9913-E634-024C5642F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8065FD-B2E9-5A89-0059-17A3DBCCA0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6DACF7-9CB2-3ECB-2055-3EEC253C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39BCFC-4154-26ED-808D-97950692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43C607-BEE5-FB87-CA69-A042EC059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1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9F474-751B-A6BA-1F68-36C469FE0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34278A-3DEC-9C93-91A4-F360A5376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A11446-690F-D089-A7CA-389496111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00D438-8679-F1FB-EEAC-B9BB7DCD7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269348-EB9C-BCB5-8AD3-44CFCFB6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927F85-50A7-43A1-E7A9-C84041A4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851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84026-4AF6-D4EE-9799-094D4C43A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5068B-A43F-9CF7-E502-F89A1B2F5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EA477-07BA-4B69-412A-0792DD885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8FD9-E8A7-DC8F-7E7F-E0BC6F5A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9BDFE-5677-37B0-1CD1-2D625E3A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837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F71D94-42CF-B78C-E156-5533626918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A789F-593D-649F-4573-D57989520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5351F-AF96-6651-2866-3C6325D8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59C5DA-035E-576A-0873-8577D93A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191174-81A1-C627-2EA5-AD434CDD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977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455FE7-C0A3-9F53-F085-017F6C14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C1A24C-F00D-F2B7-9EF9-D38A79141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D6A2A-C0BD-41BE-1A88-BE29CD2869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516B2-F6B0-41A3-9A95-EC08BA671DED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24E0D-87A4-9A2B-71FD-19A637048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11B597-5310-DC06-F7BD-E4E1932C1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E490E-1BF2-4FFB-895C-92D123B162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73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62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6BC423D-346D-6059-A579-008A957E332C}"/>
              </a:ext>
            </a:extLst>
          </p:cNvPr>
          <p:cNvSpPr>
            <a:spLocks noGrp="1"/>
          </p:cNvSpPr>
          <p:nvPr/>
        </p:nvSpPr>
        <p:spPr>
          <a:xfrm>
            <a:off x="1168977" y="1564696"/>
            <a:ext cx="8970703" cy="9103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02033"/>
                </a:solidFill>
              </a:defRPr>
            </a:pPr>
            <a:r>
              <a:rPr lang="ko-KR" altLang="en-US" sz="4800" b="1" dirty="0">
                <a:solidFill>
                  <a:srgbClr val="102033"/>
                </a:solidFill>
                <a:latin typeface="맑은 고딕" panose="020B0503020000020004" pitchFamily="50" charset="-127"/>
              </a:rPr>
              <a:t>상품 매칭 및 가격 </a:t>
            </a:r>
            <a:r>
              <a:rPr lang="ko-KR" altLang="en-US" sz="4800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</a:t>
            </a:r>
            <a:r>
              <a:rPr lang="en-US" altLang="ko-KR" sz="4800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PoC</a:t>
            </a:r>
            <a:endParaRPr sz="4800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3F222A-594C-B932-B94D-7EB05ED1F749}"/>
              </a:ext>
            </a:extLst>
          </p:cNvPr>
          <p:cNvSpPr>
            <a:spLocks noGrp="1"/>
          </p:cNvSpPr>
          <p:nvPr/>
        </p:nvSpPr>
        <p:spPr>
          <a:xfrm>
            <a:off x="8309839" y="4893254"/>
            <a:ext cx="237663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>
                <a:solidFill>
                  <a:srgbClr val="425466"/>
                </a:solidFill>
              </a:defRPr>
            </a:pPr>
            <a:r>
              <a:rPr lang="ko-KR" altLang="en-US" sz="1875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커머스웨어</a:t>
            </a:r>
            <a:r>
              <a:rPr lang="ko-KR" altLang="en-US" sz="1875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정영희</a:t>
            </a:r>
            <a:endParaRPr sz="1875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F4E9BD3-E0DF-D8CD-5B67-ED07DF081A76}"/>
              </a:ext>
            </a:extLst>
          </p:cNvPr>
          <p:cNvSpPr>
            <a:spLocks noGrp="1"/>
          </p:cNvSpPr>
          <p:nvPr/>
        </p:nvSpPr>
        <p:spPr>
          <a:xfrm>
            <a:off x="8309840" y="4367068"/>
            <a:ext cx="2376631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>
                <a:solidFill>
                  <a:srgbClr val="425466"/>
                </a:solidFill>
              </a:defRPr>
            </a:pPr>
            <a:r>
              <a:rPr lang="en-US" altLang="ko-KR" sz="1875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2026.06.23</a:t>
            </a:r>
            <a:endParaRPr sz="1875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21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9AD876-49AA-29C6-6BC3-5F074233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목차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367BFA1-F90F-6EF8-DBC6-02C2117C9D9D}"/>
              </a:ext>
            </a:extLst>
          </p:cNvPr>
          <p:cNvSpPr>
            <a:spLocks noGrp="1"/>
          </p:cNvSpPr>
          <p:nvPr/>
        </p:nvSpPr>
        <p:spPr>
          <a:xfrm>
            <a:off x="1671918" y="1475029"/>
            <a:ext cx="8126506" cy="592456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99D77-BE8C-F80E-CB8B-BF3B54A66CEC}"/>
              </a:ext>
            </a:extLst>
          </p:cNvPr>
          <p:cNvSpPr txBox="1"/>
          <p:nvPr/>
        </p:nvSpPr>
        <p:spPr>
          <a:xfrm>
            <a:off x="2039470" y="1571202"/>
            <a:ext cx="74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69396-93B4-951B-E532-C5571061F1B9}"/>
              </a:ext>
            </a:extLst>
          </p:cNvPr>
          <p:cNvSpPr txBox="1"/>
          <p:nvPr/>
        </p:nvSpPr>
        <p:spPr>
          <a:xfrm>
            <a:off x="3591756" y="1571202"/>
            <a:ext cx="6036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35FAFF-18AA-34AD-1ED5-D1D9BAEBB725}"/>
              </a:ext>
            </a:extLst>
          </p:cNvPr>
          <p:cNvSpPr>
            <a:spLocks noGrp="1"/>
          </p:cNvSpPr>
          <p:nvPr/>
        </p:nvSpPr>
        <p:spPr>
          <a:xfrm>
            <a:off x="1671918" y="2581047"/>
            <a:ext cx="8126506" cy="592456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A5617-B95C-EEBB-6EDD-414FC96C768D}"/>
              </a:ext>
            </a:extLst>
          </p:cNvPr>
          <p:cNvSpPr txBox="1"/>
          <p:nvPr/>
        </p:nvSpPr>
        <p:spPr>
          <a:xfrm>
            <a:off x="2039470" y="2677220"/>
            <a:ext cx="74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3625CA-CECF-3D3B-8494-BF33EDD18C32}"/>
              </a:ext>
            </a:extLst>
          </p:cNvPr>
          <p:cNvSpPr txBox="1"/>
          <p:nvPr/>
        </p:nvSpPr>
        <p:spPr>
          <a:xfrm>
            <a:off x="3591756" y="2677220"/>
            <a:ext cx="6036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아키텍처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5D7025C-1125-04B8-B950-3AD28D23E95A}"/>
              </a:ext>
            </a:extLst>
          </p:cNvPr>
          <p:cNvSpPr>
            <a:spLocks noGrp="1"/>
          </p:cNvSpPr>
          <p:nvPr/>
        </p:nvSpPr>
        <p:spPr>
          <a:xfrm>
            <a:off x="1671918" y="3633281"/>
            <a:ext cx="8126506" cy="592456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3C995-1F03-D9DE-09B8-51D26BFED7FB}"/>
              </a:ext>
            </a:extLst>
          </p:cNvPr>
          <p:cNvSpPr txBox="1"/>
          <p:nvPr/>
        </p:nvSpPr>
        <p:spPr>
          <a:xfrm>
            <a:off x="2039470" y="3729454"/>
            <a:ext cx="74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71FA8-18D0-402B-7E37-9F2B71D4F181}"/>
              </a:ext>
            </a:extLst>
          </p:cNvPr>
          <p:cNvSpPr txBox="1"/>
          <p:nvPr/>
        </p:nvSpPr>
        <p:spPr>
          <a:xfrm>
            <a:off x="3591756" y="3729454"/>
            <a:ext cx="6036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상품 최저가 비교 </a:t>
            </a: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PoC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00643E0-03F5-2BDD-9284-C6DFB5193853}"/>
              </a:ext>
            </a:extLst>
          </p:cNvPr>
          <p:cNvSpPr>
            <a:spLocks noGrp="1"/>
          </p:cNvSpPr>
          <p:nvPr/>
        </p:nvSpPr>
        <p:spPr>
          <a:xfrm>
            <a:off x="1671918" y="4784124"/>
            <a:ext cx="8126506" cy="592456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C2F8DC-76EF-6F7C-0F85-79D4EB06B4E2}"/>
              </a:ext>
            </a:extLst>
          </p:cNvPr>
          <p:cNvSpPr txBox="1"/>
          <p:nvPr/>
        </p:nvSpPr>
        <p:spPr>
          <a:xfrm>
            <a:off x="2039470" y="4880297"/>
            <a:ext cx="7485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F61D4C-D164-069D-113C-611F2135F570}"/>
              </a:ext>
            </a:extLst>
          </p:cNvPr>
          <p:cNvSpPr txBox="1"/>
          <p:nvPr/>
        </p:nvSpPr>
        <p:spPr>
          <a:xfrm>
            <a:off x="3591756" y="4880297"/>
            <a:ext cx="6036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향후 계획</a:t>
            </a:r>
          </a:p>
        </p:txBody>
      </p:sp>
    </p:spTree>
    <p:extLst>
      <p:ext uri="{BB962C8B-B14F-4D97-AF65-F5344CB8AC3E}">
        <p14:creationId xmlns:p14="http://schemas.microsoft.com/office/powerpoint/2010/main" val="246325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1B893-C0FB-3115-AA13-5B756B3A2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9D2D434-6C2D-DB34-8184-88D6D095BEE1}"/>
              </a:ext>
            </a:extLst>
          </p:cNvPr>
          <p:cNvSpPr>
            <a:spLocks noGrp="1"/>
          </p:cNvSpPr>
          <p:nvPr/>
        </p:nvSpPr>
        <p:spPr>
          <a:xfrm>
            <a:off x="895350" y="1452617"/>
            <a:ext cx="10301568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916B3D-665C-00FB-4060-74A7108CB46F}"/>
              </a:ext>
            </a:extLst>
          </p:cNvPr>
          <p:cNvSpPr>
            <a:spLocks noGrp="1"/>
          </p:cNvSpPr>
          <p:nvPr/>
        </p:nvSpPr>
        <p:spPr>
          <a:xfrm>
            <a:off x="895350" y="1452617"/>
            <a:ext cx="10320057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02033"/>
                </a:solidFill>
              </a:defRPr>
            </a:pPr>
            <a:r>
              <a:rPr lang="ko-KR" altLang="en-US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 또는 모델 코드를 기반으로 외부 쇼핑몰 검색 결과를 수집하고</a:t>
            </a:r>
            <a:r>
              <a:rPr lang="en-US" altLang="ko-KR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defRPr sz="1725" b="1">
                <a:solidFill>
                  <a:srgbClr val="102033"/>
                </a:solidFill>
              </a:defRPr>
            </a:pPr>
            <a:endParaRPr lang="en-US" sz="1725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725" b="1">
                <a:solidFill>
                  <a:srgbClr val="102033"/>
                </a:solidFill>
              </a:defRPr>
            </a:pPr>
            <a:r>
              <a:rPr lang="ko-KR" altLang="en-US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상품 여부를 검증 및 검색 결과에 대해 추적 상품 등록하여 가격 이력과 변동 알림을 받아</a:t>
            </a:r>
            <a:endParaRPr lang="en-US" altLang="ko-KR" sz="1725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725" b="1">
                <a:solidFill>
                  <a:srgbClr val="102033"/>
                </a:solidFill>
              </a:defRPr>
            </a:pPr>
            <a:r>
              <a:rPr lang="ko-KR" altLang="en-US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다른 쇼핑몰 상품 가격 변동을 파악할 수 있도록 설계한 </a:t>
            </a:r>
            <a:r>
              <a:rPr lang="en-US" altLang="ko-KR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PoC</a:t>
            </a:r>
            <a:r>
              <a:rPr lang="ko-KR" altLang="en-US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입니다</a:t>
            </a:r>
            <a:r>
              <a:rPr lang="en-US" altLang="ko-KR" sz="17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sz="1725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E63FEDD-DC2D-0C5B-7236-4F7746C08859}"/>
              </a:ext>
            </a:extLst>
          </p:cNvPr>
          <p:cNvGrpSpPr/>
          <p:nvPr/>
        </p:nvGrpSpPr>
        <p:grpSpPr>
          <a:xfrm>
            <a:off x="1349691" y="3990218"/>
            <a:ext cx="1567331" cy="1498964"/>
            <a:chOff x="3684494" y="4376422"/>
            <a:chExt cx="1326777" cy="124444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4964B3-9C5E-0DEF-7C24-3AEBDB66BAA6}"/>
                </a:ext>
              </a:extLst>
            </p:cNvPr>
            <p:cNvSpPr/>
            <p:nvPr/>
          </p:nvSpPr>
          <p:spPr>
            <a:xfrm>
              <a:off x="3684494" y="4383741"/>
              <a:ext cx="1326777" cy="12371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D0752CC-B6B6-A7BA-ADFF-1C49DB4B44E7}"/>
                </a:ext>
              </a:extLst>
            </p:cNvPr>
            <p:cNvSpPr/>
            <p:nvPr/>
          </p:nvSpPr>
          <p:spPr>
            <a:xfrm>
              <a:off x="3684494" y="4376422"/>
              <a:ext cx="1326777" cy="3375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검색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D0F318-20B4-E2E8-0E23-F204C73565FA}"/>
                </a:ext>
              </a:extLst>
            </p:cNvPr>
            <p:cNvSpPr txBox="1"/>
            <p:nvPr/>
          </p:nvSpPr>
          <p:spPr>
            <a:xfrm>
              <a:off x="3684494" y="4708770"/>
              <a:ext cx="1326777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크롤링을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통해 입력한 검색어 기준 상품 조회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FE73B2B-2804-1D09-6F5A-2472D32D7BE3}"/>
              </a:ext>
            </a:extLst>
          </p:cNvPr>
          <p:cNvGrpSpPr/>
          <p:nvPr/>
        </p:nvGrpSpPr>
        <p:grpSpPr>
          <a:xfrm>
            <a:off x="3346019" y="3990218"/>
            <a:ext cx="1587186" cy="1498964"/>
            <a:chOff x="3667686" y="4376422"/>
            <a:chExt cx="1343585" cy="1244449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2E9173-C488-930D-1904-06F52FD95805}"/>
                </a:ext>
              </a:extLst>
            </p:cNvPr>
            <p:cNvSpPr/>
            <p:nvPr/>
          </p:nvSpPr>
          <p:spPr>
            <a:xfrm>
              <a:off x="3684494" y="4383741"/>
              <a:ext cx="1326777" cy="12371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1D44D87-65B9-8BBA-96CC-47AFE35384E3}"/>
                </a:ext>
              </a:extLst>
            </p:cNvPr>
            <p:cNvSpPr/>
            <p:nvPr/>
          </p:nvSpPr>
          <p:spPr>
            <a:xfrm>
              <a:off x="3684494" y="4376422"/>
              <a:ext cx="1326777" cy="3375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가격 추출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D4A5F1-5C46-1FD5-7683-00359A4BA37B}"/>
                </a:ext>
              </a:extLst>
            </p:cNvPr>
            <p:cNvSpPr txBox="1"/>
            <p:nvPr/>
          </p:nvSpPr>
          <p:spPr>
            <a:xfrm>
              <a:off x="3667686" y="4721337"/>
              <a:ext cx="1326777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크롤링을</a:t>
              </a:r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통해</a:t>
              </a:r>
              <a:endPara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찾은 상품에 대한 정보 추출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773064C-5166-FBB9-542B-A2494C64BF6B}"/>
              </a:ext>
            </a:extLst>
          </p:cNvPr>
          <p:cNvGrpSpPr/>
          <p:nvPr/>
        </p:nvGrpSpPr>
        <p:grpSpPr>
          <a:xfrm>
            <a:off x="9383745" y="3990218"/>
            <a:ext cx="1587185" cy="1498964"/>
            <a:chOff x="3684494" y="4376422"/>
            <a:chExt cx="1343584" cy="124444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CFE25F8-9E23-1964-41AB-E1E7E693E7CF}"/>
                </a:ext>
              </a:extLst>
            </p:cNvPr>
            <p:cNvSpPr/>
            <p:nvPr/>
          </p:nvSpPr>
          <p:spPr>
            <a:xfrm>
              <a:off x="3684494" y="4383741"/>
              <a:ext cx="1326777" cy="12371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3260250-FF9A-0DF4-6180-96258FF77CB1}"/>
                </a:ext>
              </a:extLst>
            </p:cNvPr>
            <p:cNvSpPr/>
            <p:nvPr/>
          </p:nvSpPr>
          <p:spPr>
            <a:xfrm>
              <a:off x="3684494" y="4376422"/>
              <a:ext cx="1326777" cy="3375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가격이력</a:t>
              </a:r>
              <a:r>
                <a:rPr lang="en-US" altLang="ko-KR" sz="13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3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알림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1F682A1-1CE1-4460-FE15-6988CA2BC3D9}"/>
                </a:ext>
              </a:extLst>
            </p:cNvPr>
            <p:cNvSpPr txBox="1"/>
            <p:nvPr/>
          </p:nvSpPr>
          <p:spPr>
            <a:xfrm>
              <a:off x="3701301" y="4718788"/>
              <a:ext cx="1326777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추정상품리스트 페이지 내 상품 가격 조회 및 알림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7F39B20-54EC-8381-2BC1-F36BD5B35DD0}"/>
              </a:ext>
            </a:extLst>
          </p:cNvPr>
          <p:cNvGrpSpPr/>
          <p:nvPr/>
        </p:nvGrpSpPr>
        <p:grpSpPr>
          <a:xfrm>
            <a:off x="7379819" y="3990218"/>
            <a:ext cx="1567331" cy="1498964"/>
            <a:chOff x="3684494" y="4376422"/>
            <a:chExt cx="1326777" cy="1244449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035A66F-3EB8-7FC6-3FA5-BB4473E3FF02}"/>
                </a:ext>
              </a:extLst>
            </p:cNvPr>
            <p:cNvSpPr/>
            <p:nvPr/>
          </p:nvSpPr>
          <p:spPr>
            <a:xfrm>
              <a:off x="3684494" y="4383741"/>
              <a:ext cx="1326777" cy="12371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38E0C6-2F52-7449-3353-EEA126392EBF}"/>
                </a:ext>
              </a:extLst>
            </p:cNvPr>
            <p:cNvSpPr/>
            <p:nvPr/>
          </p:nvSpPr>
          <p:spPr>
            <a:xfrm>
              <a:off x="3684494" y="4376422"/>
              <a:ext cx="1326777" cy="3375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추적상품 등록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B28034A-8259-89DF-58F0-C4D2BC590F9F}"/>
                </a:ext>
              </a:extLst>
            </p:cNvPr>
            <p:cNvSpPr txBox="1"/>
            <p:nvPr/>
          </p:nvSpPr>
          <p:spPr>
            <a:xfrm>
              <a:off x="3684494" y="4721337"/>
              <a:ext cx="1326777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검색결과 검증 후 </a:t>
              </a:r>
              <a:r>
                <a: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추적 상품 등록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753D4AD-D3E3-2DDF-FD6F-5CB78750B57E}"/>
              </a:ext>
            </a:extLst>
          </p:cNvPr>
          <p:cNvGrpSpPr/>
          <p:nvPr/>
        </p:nvGrpSpPr>
        <p:grpSpPr>
          <a:xfrm>
            <a:off x="5370916" y="3990218"/>
            <a:ext cx="1579906" cy="1498964"/>
            <a:chOff x="3684494" y="4376422"/>
            <a:chExt cx="1337422" cy="1244449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657D637-5E73-8023-6AED-43286830660B}"/>
                </a:ext>
              </a:extLst>
            </p:cNvPr>
            <p:cNvSpPr/>
            <p:nvPr/>
          </p:nvSpPr>
          <p:spPr>
            <a:xfrm>
              <a:off x="3684494" y="4383741"/>
              <a:ext cx="1326777" cy="12371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932E271-6C74-1C46-40EC-93A23DCC72AA}"/>
                </a:ext>
              </a:extLst>
            </p:cNvPr>
            <p:cNvSpPr/>
            <p:nvPr/>
          </p:nvSpPr>
          <p:spPr>
            <a:xfrm>
              <a:off x="3684494" y="4376422"/>
              <a:ext cx="1326777" cy="33759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조회결과 노출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3FAD74F-5FA5-9539-79AD-7095FEC5215A}"/>
                </a:ext>
              </a:extLst>
            </p:cNvPr>
            <p:cNvSpPr txBox="1"/>
            <p:nvPr/>
          </p:nvSpPr>
          <p:spPr>
            <a:xfrm>
              <a:off x="3695139" y="4714018"/>
              <a:ext cx="1326777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2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상품가격조회 페이지 내 검색 결과 노출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1D2A8FBF-4281-8124-1BAE-5C83A76F73C3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2917022" y="4779798"/>
            <a:ext cx="428997" cy="15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EEA97A4B-764D-2095-496F-79E6193045D1}"/>
              </a:ext>
            </a:extLst>
          </p:cNvPr>
          <p:cNvCxnSpPr>
            <a:stCxn id="16" idx="3"/>
            <a:endCxn id="28" idx="1"/>
          </p:cNvCxnSpPr>
          <p:nvPr/>
        </p:nvCxnSpPr>
        <p:spPr>
          <a:xfrm>
            <a:off x="4933205" y="4744108"/>
            <a:ext cx="43771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FC39936-131B-5BCE-EB75-7186E0ABD843}"/>
              </a:ext>
            </a:extLst>
          </p:cNvPr>
          <p:cNvCxnSpPr>
            <a:stCxn id="28" idx="3"/>
            <a:endCxn id="24" idx="1"/>
          </p:cNvCxnSpPr>
          <p:nvPr/>
        </p:nvCxnSpPr>
        <p:spPr>
          <a:xfrm>
            <a:off x="6938247" y="4744108"/>
            <a:ext cx="44157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90D52B76-E4EA-1A24-A0F6-3C47EA7C788B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8947150" y="4744108"/>
            <a:ext cx="4365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8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A9E2-B6EF-AEF3-BA31-ADFFA9FC7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F4A16-671B-5642-EDFC-D9C7BB5E5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아키텍처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3A36F20-028C-AB28-77DF-F3CDBC31FA9F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2000250" cy="32004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2AFEB9-F27B-FA76-9934-64C438F9E7AA}"/>
              </a:ext>
            </a:extLst>
          </p:cNvPr>
          <p:cNvSpPr>
            <a:spLocks noGrp="1"/>
          </p:cNvSpPr>
          <p:nvPr/>
        </p:nvSpPr>
        <p:spPr>
          <a:xfrm>
            <a:off x="647700" y="1962150"/>
            <a:ext cx="1981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 dirty="0" err="1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sz="1650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650" b="1" dirty="0" err="1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운영자</a:t>
            </a:r>
            <a:endParaRPr sz="1650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FA2FBF-FA1D-CE66-156D-74E43BD78D19}"/>
              </a:ext>
            </a:extLst>
          </p:cNvPr>
          <p:cNvSpPr>
            <a:spLocks noGrp="1"/>
          </p:cNvSpPr>
          <p:nvPr/>
        </p:nvSpPr>
        <p:spPr>
          <a:xfrm>
            <a:off x="762000" y="2528887"/>
            <a:ext cx="17526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상품명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모델코드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및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필터링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아님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재확인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수동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재조회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0B90CBD-3B85-B8C5-C062-3DEAFB5C5090}"/>
              </a:ext>
            </a:extLst>
          </p:cNvPr>
          <p:cNvSpPr>
            <a:spLocks noGrp="1"/>
          </p:cNvSpPr>
          <p:nvPr/>
        </p:nvSpPr>
        <p:spPr>
          <a:xfrm>
            <a:off x="3600450" y="1638300"/>
            <a:ext cx="2381250" cy="3276600"/>
          </a:xfrm>
          <a:prstGeom prst="roundRect">
            <a:avLst>
              <a:gd name="adj" fmla="val 3200"/>
            </a:avLst>
          </a:prstGeom>
          <a:solidFill>
            <a:srgbClr val="DDF3EC"/>
          </a:solidFill>
          <a:ln w="9525">
            <a:solidFill>
              <a:srgbClr val="188A6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AC0D705-AC50-27BB-B5A8-956C687FA67E}"/>
              </a:ext>
            </a:extLst>
          </p:cNvPr>
          <p:cNvSpPr>
            <a:spLocks noGrp="1"/>
          </p:cNvSpPr>
          <p:nvPr/>
        </p:nvSpPr>
        <p:spPr>
          <a:xfrm>
            <a:off x="3924300" y="19145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 UI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FFE09F-AE10-E52F-0CC1-19FD89786102}"/>
              </a:ext>
            </a:extLst>
          </p:cNvPr>
          <p:cNvSpPr>
            <a:spLocks noGrp="1"/>
          </p:cNvSpPr>
          <p:nvPr/>
        </p:nvSpPr>
        <p:spPr>
          <a:xfrm>
            <a:off x="3924300" y="2419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8A6A"/>
                </a:solidFill>
              </a:defRPr>
            </a:pPr>
            <a:r>
              <a:rPr sz="1275" b="1" dirty="0" err="1">
                <a:solidFill>
                  <a:srgbClr val="188A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Thymeleaf</a:t>
            </a:r>
            <a:r>
              <a:rPr sz="1275" b="1" dirty="0">
                <a:solidFill>
                  <a:srgbClr val="188A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Templates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5042EBC-B421-8FD1-80C0-9924850F8337}"/>
              </a:ext>
            </a:extLst>
          </p:cNvPr>
          <p:cNvSpPr>
            <a:spLocks noGrp="1"/>
          </p:cNvSpPr>
          <p:nvPr/>
        </p:nvSpPr>
        <p:spPr>
          <a:xfrm>
            <a:off x="3924300" y="2843212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index.html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tracked-products.html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EE0273-D042-F995-589E-ABB6AD3A676A}"/>
              </a:ext>
            </a:extLst>
          </p:cNvPr>
          <p:cNvSpPr>
            <a:spLocks noGrp="1"/>
          </p:cNvSpPr>
          <p:nvPr/>
        </p:nvSpPr>
        <p:spPr>
          <a:xfrm>
            <a:off x="3924300" y="34671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88A6A"/>
                </a:solidFill>
              </a:defRPr>
            </a:pPr>
            <a:r>
              <a:rPr sz="1275" b="1">
                <a:solidFill>
                  <a:srgbClr val="188A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Browser JS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8EE36A-AAD0-FFD9-747D-5193E9F6CC82}"/>
              </a:ext>
            </a:extLst>
          </p:cNvPr>
          <p:cNvSpPr>
            <a:spLocks noGrp="1"/>
          </p:cNvSpPr>
          <p:nvPr/>
        </p:nvSpPr>
        <p:spPr>
          <a:xfrm>
            <a:off x="3924300" y="3733800"/>
            <a:ext cx="1714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app.js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tracked-products.js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localStorage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cache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0C50CC9-C8FC-14BE-3D89-A0DBBF819DF6}"/>
              </a:ext>
            </a:extLst>
          </p:cNvPr>
          <p:cNvSpPr>
            <a:spLocks noGrp="1"/>
          </p:cNvSpPr>
          <p:nvPr/>
        </p:nvSpPr>
        <p:spPr>
          <a:xfrm>
            <a:off x="6896100" y="1485900"/>
            <a:ext cx="2876550" cy="3600450"/>
          </a:xfrm>
          <a:prstGeom prst="roundRect">
            <a:avLst>
              <a:gd name="adj" fmla="val 2649"/>
            </a:avLst>
          </a:prstGeom>
          <a:solidFill>
            <a:srgbClr val="E7EEFF"/>
          </a:solidFill>
          <a:ln w="9525">
            <a:solidFill>
              <a:srgbClr val="1F5E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56C784C-16CD-C477-F9CB-32E9D59EA347}"/>
              </a:ext>
            </a:extLst>
          </p:cNvPr>
          <p:cNvSpPr>
            <a:spLocks noGrp="1"/>
          </p:cNvSpPr>
          <p:nvPr/>
        </p:nvSpPr>
        <p:spPr>
          <a:xfrm>
            <a:off x="7181850" y="17716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Boot API / Service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9120B0F-F7A4-55E0-B60C-BEC50A865955}"/>
              </a:ext>
            </a:extLst>
          </p:cNvPr>
          <p:cNvSpPr>
            <a:spLocks noGrp="1"/>
          </p:cNvSpPr>
          <p:nvPr/>
        </p:nvSpPr>
        <p:spPr>
          <a:xfrm>
            <a:off x="7200900" y="25050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 dirty="0">
                <a:solidFill>
                  <a:srgbClr val="1F5E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Controllers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C30408-05EC-B8D0-3249-74323B8F41D6}"/>
              </a:ext>
            </a:extLst>
          </p:cNvPr>
          <p:cNvSpPr>
            <a:spLocks noGrp="1"/>
          </p:cNvSpPr>
          <p:nvPr/>
        </p:nvSpPr>
        <p:spPr>
          <a:xfrm>
            <a:off x="7105650" y="2943225"/>
            <a:ext cx="1238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ProductPrice</a:t>
            </a:r>
            <a:endParaRPr sz="1050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TrackedProduct</a:t>
            </a:r>
            <a:endParaRPr sz="1050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NotMatched</a:t>
            </a:r>
            <a:endParaRPr sz="1050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1A7A08E-5CD6-E7E3-ECAE-0A25A36E7747}"/>
              </a:ext>
            </a:extLst>
          </p:cNvPr>
          <p:cNvSpPr>
            <a:spLocks noGrp="1"/>
          </p:cNvSpPr>
          <p:nvPr/>
        </p:nvSpPr>
        <p:spPr>
          <a:xfrm>
            <a:off x="8467725" y="2507456"/>
            <a:ext cx="1181100" cy="2238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EFF"/>
                </a:solidFill>
              </a:defRPr>
            </a:pPr>
            <a:r>
              <a:rPr sz="1200" b="1" dirty="0">
                <a:solidFill>
                  <a:srgbClr val="1F5E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Core Services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6179046-86E6-B08F-B8EA-9899B17B9C12}"/>
              </a:ext>
            </a:extLst>
          </p:cNvPr>
          <p:cNvSpPr>
            <a:spLocks noGrp="1"/>
          </p:cNvSpPr>
          <p:nvPr/>
        </p:nvSpPr>
        <p:spPr>
          <a:xfrm>
            <a:off x="8391525" y="2803524"/>
            <a:ext cx="12573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Search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Tracking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PriceHistory</a:t>
            </a:r>
            <a:endParaRPr sz="1050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MatchEvaluator</a:t>
            </a:r>
            <a:endParaRPr sz="1050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5B0CCD3-0909-F023-3A87-71D3A312EFF6}"/>
              </a:ext>
            </a:extLst>
          </p:cNvPr>
          <p:cNvSpPr>
            <a:spLocks noGrp="1"/>
          </p:cNvSpPr>
          <p:nvPr/>
        </p:nvSpPr>
        <p:spPr>
          <a:xfrm>
            <a:off x="8324850" y="2266950"/>
            <a:ext cx="9525" cy="129540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573D305-19E1-5BFE-FBE7-921EA2A50F69}"/>
              </a:ext>
            </a:extLst>
          </p:cNvPr>
          <p:cNvSpPr>
            <a:spLocks noGrp="1"/>
          </p:cNvSpPr>
          <p:nvPr/>
        </p:nvSpPr>
        <p:spPr>
          <a:xfrm>
            <a:off x="7239000" y="4000499"/>
            <a:ext cx="2190750" cy="800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매칭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산정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endParaRPr lang="en-US"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</a:t>
            </a:r>
            <a:endParaRPr lang="en-US"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이력</a:t>
            </a:r>
            <a:r>
              <a:rPr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25" dirty="0" err="1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2AC079B-944A-709D-1881-9EB5AA9BCCB3}"/>
              </a:ext>
            </a:extLst>
          </p:cNvPr>
          <p:cNvSpPr>
            <a:spLocks noGrp="1"/>
          </p:cNvSpPr>
          <p:nvPr/>
        </p:nvSpPr>
        <p:spPr>
          <a:xfrm>
            <a:off x="10382250" y="1547090"/>
            <a:ext cx="1276350" cy="1786660"/>
          </a:xfrm>
          <a:prstGeom prst="roundRect">
            <a:avLst>
              <a:gd name="adj" fmla="val 5970"/>
            </a:avLst>
          </a:prstGeom>
          <a:solidFill>
            <a:srgbClr val="FFF0D6"/>
          </a:solidFill>
          <a:ln w="9525">
            <a:solidFill>
              <a:srgbClr val="C47A10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7DC2E9-5DA5-1AFE-F9D9-67023BD38D0E}"/>
              </a:ext>
            </a:extLst>
          </p:cNvPr>
          <p:cNvSpPr>
            <a:spLocks noGrp="1"/>
          </p:cNvSpPr>
          <p:nvPr/>
        </p:nvSpPr>
        <p:spPr>
          <a:xfrm>
            <a:off x="10496550" y="15938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Crawler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D4E31DC-9763-B4D5-F6F3-C95407BBE4A8}"/>
              </a:ext>
            </a:extLst>
          </p:cNvPr>
          <p:cNvSpPr>
            <a:spLocks noGrp="1"/>
          </p:cNvSpPr>
          <p:nvPr/>
        </p:nvSpPr>
        <p:spPr>
          <a:xfrm>
            <a:off x="10496550" y="191770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Routing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HSMOA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Mock Mall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1FBE982-9240-63C2-8EEB-6F3B11FB4236}"/>
              </a:ext>
            </a:extLst>
          </p:cNvPr>
          <p:cNvSpPr>
            <a:spLocks noGrp="1"/>
          </p:cNvSpPr>
          <p:nvPr/>
        </p:nvSpPr>
        <p:spPr>
          <a:xfrm>
            <a:off x="10382250" y="3448050"/>
            <a:ext cx="1276350" cy="1890496"/>
          </a:xfrm>
          <a:prstGeom prst="roundRect">
            <a:avLst>
              <a:gd name="adj" fmla="val 5970"/>
            </a:avLst>
          </a:prstGeom>
          <a:solidFill>
            <a:srgbClr val="ECEAFF"/>
          </a:solidFill>
          <a:ln w="9525">
            <a:solidFill>
              <a:srgbClr val="635BFF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EF3D038-EE4B-2A81-ACAA-0A043E7F264F}"/>
              </a:ext>
            </a:extLst>
          </p:cNvPr>
          <p:cNvSpPr>
            <a:spLocks noGrp="1"/>
          </p:cNvSpPr>
          <p:nvPr/>
        </p:nvSpPr>
        <p:spPr>
          <a:xfrm>
            <a:off x="10496550" y="3486150"/>
            <a:ext cx="104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033"/>
                </a:solidFill>
              </a:defRPr>
            </a:pPr>
            <a:r>
              <a:rPr sz="1425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21CB5E9-661C-98DF-6B4D-916B605B4468}"/>
              </a:ext>
            </a:extLst>
          </p:cNvPr>
          <p:cNvSpPr>
            <a:spLocks noGrp="1"/>
          </p:cNvSpPr>
          <p:nvPr/>
        </p:nvSpPr>
        <p:spPr>
          <a:xfrm>
            <a:off x="10496550" y="3886200"/>
            <a:ext cx="104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H2 DB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JPA Repo</a:t>
            </a:r>
          </a:p>
          <a:p>
            <a:pPr algn="ctr">
              <a:defRPr sz="1050">
                <a:solidFill>
                  <a:srgbClr val="425466"/>
                </a:solidFill>
              </a:defRPr>
            </a:pPr>
            <a:r>
              <a:rPr sz="1050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Logs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4238572C-349A-C89C-5C8E-C6261714C85E}"/>
              </a:ext>
            </a:extLst>
          </p:cNvPr>
          <p:cNvCxnSpPr>
            <a:stCxn id="4" idx="3"/>
            <a:endCxn id="15" idx="1"/>
          </p:cNvCxnSpPr>
          <p:nvPr/>
        </p:nvCxnSpPr>
        <p:spPr>
          <a:xfrm flipV="1">
            <a:off x="2628900" y="3276600"/>
            <a:ext cx="971550" cy="19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FEE2EC3C-D4AF-6C99-1ED8-1C763172860B}"/>
              </a:ext>
            </a:extLst>
          </p:cNvPr>
          <p:cNvCxnSpPr>
            <a:stCxn id="15" idx="3"/>
            <a:endCxn id="32" idx="1"/>
          </p:cNvCxnSpPr>
          <p:nvPr/>
        </p:nvCxnSpPr>
        <p:spPr>
          <a:xfrm>
            <a:off x="5981700" y="3276600"/>
            <a:ext cx="914400" cy="9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E17DD11-F8F9-F71E-2520-21E48AD73DF1}"/>
              </a:ext>
            </a:extLst>
          </p:cNvPr>
          <p:cNvCxnSpPr>
            <a:cxnSpLocks/>
            <a:stCxn id="32" idx="3"/>
            <a:endCxn id="44" idx="1"/>
          </p:cNvCxnSpPr>
          <p:nvPr/>
        </p:nvCxnSpPr>
        <p:spPr>
          <a:xfrm flipV="1">
            <a:off x="9772650" y="2440420"/>
            <a:ext cx="609600" cy="8457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F7C36C7-3BD6-1FBC-7048-7452E4CC0E50}"/>
              </a:ext>
            </a:extLst>
          </p:cNvPr>
          <p:cNvCxnSpPr>
            <a:cxnSpLocks/>
            <a:stCxn id="32" idx="3"/>
            <a:endCxn id="47" idx="1"/>
          </p:cNvCxnSpPr>
          <p:nvPr/>
        </p:nvCxnSpPr>
        <p:spPr>
          <a:xfrm>
            <a:off x="9772650" y="3286125"/>
            <a:ext cx="609600" cy="1107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BD289ED-5A44-BA39-48A5-336869919DD4}"/>
              </a:ext>
            </a:extLst>
          </p:cNvPr>
          <p:cNvSpPr>
            <a:spLocks noGrp="1"/>
          </p:cNvSpPr>
          <p:nvPr/>
        </p:nvSpPr>
        <p:spPr>
          <a:xfrm>
            <a:off x="10467975" y="2619374"/>
            <a:ext cx="1104900" cy="5572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lang="ko-KR" altLang="en-US"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페이지 조회</a:t>
            </a:r>
            <a:r>
              <a:rPr lang="en-US" altLang="ko-KR"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25" dirty="0">
                <a:solidFill>
                  <a:srgbClr val="42546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 추출</a:t>
            </a: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5EC92E4-C30A-5A2E-A057-3E9B23CC29D9}"/>
              </a:ext>
            </a:extLst>
          </p:cNvPr>
          <p:cNvSpPr>
            <a:spLocks noGrp="1"/>
          </p:cNvSpPr>
          <p:nvPr/>
        </p:nvSpPr>
        <p:spPr>
          <a:xfrm>
            <a:off x="10382250" y="4491254"/>
            <a:ext cx="1276350" cy="8472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lang="ko-KR" altLang="en-US" dirty="0"/>
              <a:t>상품</a:t>
            </a:r>
            <a:r>
              <a:rPr lang="en-US" altLang="ko-KR" dirty="0"/>
              <a:t>, </a:t>
            </a:r>
            <a:r>
              <a:rPr lang="ko-KR" altLang="en-US" dirty="0"/>
              <a:t>쇼핑몰 상품</a:t>
            </a:r>
            <a:r>
              <a:rPr lang="en-US" altLang="ko-KR" dirty="0"/>
              <a:t>, </a:t>
            </a:r>
            <a:r>
              <a:rPr lang="ko-KR" altLang="en-US" dirty="0"/>
              <a:t>가격 이력</a:t>
            </a:r>
            <a:r>
              <a:rPr lang="en-US" altLang="ko-KR" dirty="0"/>
              <a:t>, </a:t>
            </a:r>
            <a:r>
              <a:rPr lang="ko-KR" altLang="en-US" dirty="0"/>
              <a:t>실행 로그</a:t>
            </a:r>
            <a:r>
              <a:rPr lang="en-US" altLang="ko-KR" dirty="0"/>
              <a:t>, </a:t>
            </a:r>
            <a:r>
              <a:rPr lang="ko-KR" altLang="en-US" dirty="0"/>
              <a:t>알림 이력 저장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endParaRPr sz="1125" dirty="0">
              <a:solidFill>
                <a:srgbClr val="42546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6180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CBA2-BC77-7C6C-E763-9BC1BFB9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04964-DC2F-0710-D241-E2D67351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 최저가 비교 </a:t>
            </a:r>
            <a:r>
              <a:rPr lang="en-US" altLang="ko-KR" dirty="0"/>
              <a:t>PoC </a:t>
            </a:r>
            <a:r>
              <a:rPr lang="ko-KR" altLang="en-US" dirty="0"/>
              <a:t>프로젝트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6A44BEC6-38D4-6543-5B17-7143923DDFCB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514350" cy="514350"/>
          </a:xfrm>
          <a:prstGeom prst="ellipse">
            <a:avLst/>
          </a:prstGeom>
          <a:solidFill>
            <a:srgbClr val="188A6A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2F90C6A-76A7-79D8-7A41-120154052D3D}"/>
              </a:ext>
            </a:extLst>
          </p:cNvPr>
          <p:cNvSpPr>
            <a:spLocks noGrp="1"/>
          </p:cNvSpPr>
          <p:nvPr/>
        </p:nvSpPr>
        <p:spPr>
          <a:xfrm>
            <a:off x="1076325" y="18288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CAAF63-C3C1-C099-CA56-3DE01250D04A}"/>
              </a:ext>
            </a:extLst>
          </p:cNvPr>
          <p:cNvSpPr>
            <a:spLocks noGrp="1"/>
          </p:cNvSpPr>
          <p:nvPr/>
        </p:nvSpPr>
        <p:spPr>
          <a:xfrm>
            <a:off x="1695450" y="16954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1. 검색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5414E1-683D-3A02-71F1-120F7CE3117B}"/>
              </a:ext>
            </a:extLst>
          </p:cNvPr>
          <p:cNvSpPr>
            <a:spLocks noGrp="1"/>
          </p:cNvSpPr>
          <p:nvPr/>
        </p:nvSpPr>
        <p:spPr>
          <a:xfrm>
            <a:off x="3905250" y="17145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25466"/>
                </a:solidFill>
              </a:defRPr>
            </a:pPr>
            <a:r>
              <a:rPr sz="1500" dirty="0" err="1">
                <a:solidFill>
                  <a:srgbClr val="425466"/>
                </a:solidFill>
              </a:rPr>
              <a:t>상품명</a:t>
            </a:r>
            <a:r>
              <a:rPr sz="1500" dirty="0">
                <a:solidFill>
                  <a:srgbClr val="425466"/>
                </a:solidFill>
              </a:rPr>
              <a:t>/</a:t>
            </a:r>
            <a:r>
              <a:rPr sz="1500" dirty="0" err="1">
                <a:solidFill>
                  <a:srgbClr val="425466"/>
                </a:solidFill>
              </a:rPr>
              <a:t>모델코드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입력</a:t>
            </a:r>
            <a:endParaRPr sz="1500" dirty="0">
              <a:solidFill>
                <a:srgbClr val="425466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AA6F73-F12D-27CC-B12B-E1F550C3DD83}"/>
              </a:ext>
            </a:extLst>
          </p:cNvPr>
          <p:cNvSpPr>
            <a:spLocks noGrp="1"/>
          </p:cNvSpPr>
          <p:nvPr/>
        </p:nvSpPr>
        <p:spPr>
          <a:xfrm>
            <a:off x="1162050" y="2286000"/>
            <a:ext cx="28575" cy="41910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1108A09-0E08-1FF6-40FA-45E785872E55}"/>
              </a:ext>
            </a:extLst>
          </p:cNvPr>
          <p:cNvSpPr>
            <a:spLocks noGrp="1"/>
          </p:cNvSpPr>
          <p:nvPr/>
        </p:nvSpPr>
        <p:spPr>
          <a:xfrm>
            <a:off x="914400" y="2667000"/>
            <a:ext cx="514350" cy="514350"/>
          </a:xfrm>
          <a:prstGeom prst="ellipse">
            <a:avLst/>
          </a:prstGeom>
          <a:solidFill>
            <a:srgbClr val="1F5EFF"/>
          </a:solidFill>
          <a:ln w="0">
            <a:noFill/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36D7B43-2DC9-4D7B-CB21-385AD67A6F4E}"/>
              </a:ext>
            </a:extLst>
          </p:cNvPr>
          <p:cNvSpPr>
            <a:spLocks noGrp="1"/>
          </p:cNvSpPr>
          <p:nvPr/>
        </p:nvSpPr>
        <p:spPr>
          <a:xfrm>
            <a:off x="1076325" y="27622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FC0487-04F7-499C-778E-526002CA84D2}"/>
              </a:ext>
            </a:extLst>
          </p:cNvPr>
          <p:cNvSpPr>
            <a:spLocks noGrp="1"/>
          </p:cNvSpPr>
          <p:nvPr/>
        </p:nvSpPr>
        <p:spPr>
          <a:xfrm>
            <a:off x="1695450" y="26289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2. 결과 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9407E0-7829-64D9-D1A1-C9C9A51B3253}"/>
              </a:ext>
            </a:extLst>
          </p:cNvPr>
          <p:cNvSpPr>
            <a:spLocks noGrp="1"/>
          </p:cNvSpPr>
          <p:nvPr/>
        </p:nvSpPr>
        <p:spPr>
          <a:xfrm>
            <a:off x="3905250" y="26479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25466"/>
                </a:solidFill>
              </a:defRPr>
            </a:pPr>
            <a:r>
              <a:rPr sz="1500" dirty="0" err="1">
                <a:solidFill>
                  <a:srgbClr val="425466"/>
                </a:solidFill>
              </a:rPr>
              <a:t>가격</a:t>
            </a:r>
            <a:r>
              <a:rPr sz="1500" dirty="0">
                <a:solidFill>
                  <a:srgbClr val="425466"/>
                </a:solidFill>
              </a:rPr>
              <a:t>, </a:t>
            </a:r>
            <a:r>
              <a:rPr sz="1500" dirty="0" err="1">
                <a:solidFill>
                  <a:srgbClr val="425466"/>
                </a:solidFill>
              </a:rPr>
              <a:t>렌탈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여부</a:t>
            </a:r>
            <a:r>
              <a:rPr sz="1500" dirty="0">
                <a:solidFill>
                  <a:srgbClr val="425466"/>
                </a:solidFill>
              </a:rPr>
              <a:t>, </a:t>
            </a:r>
            <a:r>
              <a:rPr sz="1500" dirty="0" err="1">
                <a:solidFill>
                  <a:srgbClr val="425466"/>
                </a:solidFill>
              </a:rPr>
              <a:t>기간</a:t>
            </a:r>
            <a:r>
              <a:rPr lang="en-US"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매칭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점수와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사유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확인</a:t>
            </a:r>
            <a:endParaRPr sz="1500" dirty="0">
              <a:solidFill>
                <a:srgbClr val="425466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054231-A34F-90B5-E482-A14F3C2E0613}"/>
              </a:ext>
            </a:extLst>
          </p:cNvPr>
          <p:cNvSpPr>
            <a:spLocks noGrp="1"/>
          </p:cNvSpPr>
          <p:nvPr/>
        </p:nvSpPr>
        <p:spPr>
          <a:xfrm>
            <a:off x="1162050" y="3219450"/>
            <a:ext cx="28575" cy="41910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05ABD61-6F3A-3A91-2BB6-99B3E75E2E68}"/>
              </a:ext>
            </a:extLst>
          </p:cNvPr>
          <p:cNvSpPr>
            <a:spLocks noGrp="1"/>
          </p:cNvSpPr>
          <p:nvPr/>
        </p:nvSpPr>
        <p:spPr>
          <a:xfrm>
            <a:off x="914400" y="3600450"/>
            <a:ext cx="514350" cy="514350"/>
          </a:xfrm>
          <a:prstGeom prst="ellipse">
            <a:avLst/>
          </a:prstGeom>
          <a:solidFill>
            <a:srgbClr val="C47A10"/>
          </a:solidFill>
          <a:ln w="0">
            <a:noFill/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D1F73C-8AC7-DF1C-87BF-CD6072A3DFDB}"/>
              </a:ext>
            </a:extLst>
          </p:cNvPr>
          <p:cNvSpPr>
            <a:spLocks noGrp="1"/>
          </p:cNvSpPr>
          <p:nvPr/>
        </p:nvSpPr>
        <p:spPr>
          <a:xfrm>
            <a:off x="1076325" y="36957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03F399F-9429-D075-FC84-A057DA1EEA21}"/>
              </a:ext>
            </a:extLst>
          </p:cNvPr>
          <p:cNvSpPr>
            <a:spLocks noGrp="1"/>
          </p:cNvSpPr>
          <p:nvPr/>
        </p:nvSpPr>
        <p:spPr>
          <a:xfrm>
            <a:off x="1695450" y="35623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3. 조치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8E07E73-E593-8786-4A30-20142C8C0B85}"/>
              </a:ext>
            </a:extLst>
          </p:cNvPr>
          <p:cNvSpPr>
            <a:spLocks noGrp="1"/>
          </p:cNvSpPr>
          <p:nvPr/>
        </p:nvSpPr>
        <p:spPr>
          <a:xfrm>
            <a:off x="3905250" y="35623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25466"/>
                </a:solidFill>
              </a:defRPr>
            </a:pPr>
            <a:r>
              <a:rPr sz="1500" dirty="0" err="1">
                <a:solidFill>
                  <a:srgbClr val="425466"/>
                </a:solidFill>
              </a:rPr>
              <a:t>추적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등록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또는동일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아님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저장</a:t>
            </a:r>
            <a:endParaRPr sz="1500" dirty="0">
              <a:solidFill>
                <a:srgbClr val="425466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4A0F71-BAF9-3E27-5324-ED1273DB12C3}"/>
              </a:ext>
            </a:extLst>
          </p:cNvPr>
          <p:cNvSpPr>
            <a:spLocks noGrp="1"/>
          </p:cNvSpPr>
          <p:nvPr/>
        </p:nvSpPr>
        <p:spPr>
          <a:xfrm>
            <a:off x="1162050" y="4152900"/>
            <a:ext cx="28575" cy="41910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DB2EA92-E283-02B2-A724-2EFE262286C2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514350" cy="514350"/>
          </a:xfrm>
          <a:prstGeom prst="ellipse">
            <a:avLst/>
          </a:prstGeom>
          <a:solidFill>
            <a:srgbClr val="635BFF"/>
          </a:solidFill>
          <a:ln w="0">
            <a:noFill/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0D1984D-5184-0ED0-EE83-0C1DA5FC7FBC}"/>
              </a:ext>
            </a:extLst>
          </p:cNvPr>
          <p:cNvSpPr>
            <a:spLocks noGrp="1"/>
          </p:cNvSpPr>
          <p:nvPr/>
        </p:nvSpPr>
        <p:spPr>
          <a:xfrm>
            <a:off x="1076325" y="462915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05D34A-42D8-4BE8-3E52-DB3EB09DFF9D}"/>
              </a:ext>
            </a:extLst>
          </p:cNvPr>
          <p:cNvSpPr>
            <a:spLocks noGrp="1"/>
          </p:cNvSpPr>
          <p:nvPr/>
        </p:nvSpPr>
        <p:spPr>
          <a:xfrm>
            <a:off x="1695450" y="4495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4. 추적 관리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E20C0A-8508-462A-438B-BB514089E671}"/>
              </a:ext>
            </a:extLst>
          </p:cNvPr>
          <p:cNvSpPr>
            <a:spLocks noGrp="1"/>
          </p:cNvSpPr>
          <p:nvPr/>
        </p:nvSpPr>
        <p:spPr>
          <a:xfrm>
            <a:off x="3905250" y="451485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25466"/>
                </a:solidFill>
              </a:defRPr>
            </a:pPr>
            <a:r>
              <a:rPr sz="1500" dirty="0" err="1">
                <a:solidFill>
                  <a:srgbClr val="425466"/>
                </a:solidFill>
              </a:rPr>
              <a:t>등록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상품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리스트에서</a:t>
            </a:r>
            <a:r>
              <a:rPr lang="en-US"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가격</a:t>
            </a:r>
            <a:r>
              <a:rPr sz="1500" dirty="0">
                <a:solidFill>
                  <a:srgbClr val="425466"/>
                </a:solidFill>
              </a:rPr>
              <a:t>/</a:t>
            </a:r>
            <a:r>
              <a:rPr sz="1500" dirty="0" err="1">
                <a:solidFill>
                  <a:srgbClr val="425466"/>
                </a:solidFill>
              </a:rPr>
              <a:t>최저가</a:t>
            </a:r>
            <a:r>
              <a:rPr sz="1500" dirty="0">
                <a:solidFill>
                  <a:srgbClr val="425466"/>
                </a:solidFill>
              </a:rPr>
              <a:t>/</a:t>
            </a:r>
            <a:r>
              <a:rPr sz="1500" dirty="0" err="1">
                <a:solidFill>
                  <a:srgbClr val="425466"/>
                </a:solidFill>
              </a:rPr>
              <a:t>변동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확인</a:t>
            </a:r>
            <a:endParaRPr sz="1500" dirty="0">
              <a:solidFill>
                <a:srgbClr val="425466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6C5960-E45C-52BC-DEAC-8CDC7FA4EA96}"/>
              </a:ext>
            </a:extLst>
          </p:cNvPr>
          <p:cNvSpPr>
            <a:spLocks noGrp="1"/>
          </p:cNvSpPr>
          <p:nvPr/>
        </p:nvSpPr>
        <p:spPr>
          <a:xfrm>
            <a:off x="1162050" y="5086350"/>
            <a:ext cx="28575" cy="419100"/>
          </a:xfrm>
          <a:prstGeom prst="rect">
            <a:avLst/>
          </a:prstGeom>
          <a:solidFill>
            <a:srgbClr val="D7DEE8"/>
          </a:solidFill>
          <a:ln w="0">
            <a:noFill/>
            <a:prstDash val="solid"/>
          </a:ln>
        </p:spPr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2CD6C90-DE12-68B3-8536-8A380A4F0696}"/>
              </a:ext>
            </a:extLst>
          </p:cNvPr>
          <p:cNvSpPr>
            <a:spLocks noGrp="1"/>
          </p:cNvSpPr>
          <p:nvPr/>
        </p:nvSpPr>
        <p:spPr>
          <a:xfrm>
            <a:off x="914400" y="5467350"/>
            <a:ext cx="514350" cy="514350"/>
          </a:xfrm>
          <a:prstGeom prst="ellipse">
            <a:avLst/>
          </a:prstGeom>
          <a:solidFill>
            <a:srgbClr val="B84638"/>
          </a:solidFill>
          <a:ln w="0">
            <a:noFill/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EF9FFC-AA5A-02BE-0869-574CCA2EA7B1}"/>
              </a:ext>
            </a:extLst>
          </p:cNvPr>
          <p:cNvSpPr>
            <a:spLocks noGrp="1"/>
          </p:cNvSpPr>
          <p:nvPr/>
        </p:nvSpPr>
        <p:spPr>
          <a:xfrm>
            <a:off x="1076325" y="5562600"/>
            <a:ext cx="19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0676F91-BCA8-93EF-1645-DD16BFAA0A66}"/>
              </a:ext>
            </a:extLst>
          </p:cNvPr>
          <p:cNvSpPr>
            <a:spLocks noGrp="1"/>
          </p:cNvSpPr>
          <p:nvPr/>
        </p:nvSpPr>
        <p:spPr>
          <a:xfrm>
            <a:off x="1695450" y="5492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5. 재조회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4B2A800-E937-C7A3-359C-246AE24F2D03}"/>
              </a:ext>
            </a:extLst>
          </p:cNvPr>
          <p:cNvSpPr>
            <a:spLocks noGrp="1"/>
          </p:cNvSpPr>
          <p:nvPr/>
        </p:nvSpPr>
        <p:spPr>
          <a:xfrm>
            <a:off x="3905250" y="5511800"/>
            <a:ext cx="571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425466"/>
                </a:solidFill>
              </a:defRPr>
            </a:pPr>
            <a:r>
              <a:rPr sz="1500" dirty="0" err="1">
                <a:solidFill>
                  <a:srgbClr val="425466"/>
                </a:solidFill>
              </a:rPr>
              <a:t>수동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refresh로</a:t>
            </a:r>
            <a:r>
              <a:rPr lang="en-US"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현재가와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이력</a:t>
            </a:r>
            <a:r>
              <a:rPr sz="1500" dirty="0">
                <a:solidFill>
                  <a:srgbClr val="425466"/>
                </a:solidFill>
              </a:rPr>
              <a:t> </a:t>
            </a:r>
            <a:r>
              <a:rPr sz="1500" dirty="0" err="1">
                <a:solidFill>
                  <a:srgbClr val="425466"/>
                </a:solidFill>
              </a:rPr>
              <a:t>갱신</a:t>
            </a:r>
            <a:endParaRPr sz="1500" dirty="0">
              <a:solidFill>
                <a:srgbClr val="4254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707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58A9-5978-4467-6CFC-E7EEA3B3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1F250-0608-1EB8-F9E6-2586132E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 최저가 비교 </a:t>
            </a:r>
            <a:r>
              <a:rPr lang="en-US" altLang="ko-KR" dirty="0"/>
              <a:t>PoC </a:t>
            </a:r>
            <a:r>
              <a:rPr lang="ko-KR" altLang="en-US" dirty="0"/>
              <a:t>프로젝트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AA5088A-3E60-57CF-9B28-8B250630AAAC}"/>
              </a:ext>
            </a:extLst>
          </p:cNvPr>
          <p:cNvSpPr>
            <a:spLocks noGrp="1"/>
          </p:cNvSpPr>
          <p:nvPr/>
        </p:nvSpPr>
        <p:spPr>
          <a:xfrm>
            <a:off x="666750" y="1749425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D46929-90DD-D98E-9D7C-036966E850EB}"/>
              </a:ext>
            </a:extLst>
          </p:cNvPr>
          <p:cNvSpPr>
            <a:spLocks noGrp="1"/>
          </p:cNvSpPr>
          <p:nvPr/>
        </p:nvSpPr>
        <p:spPr>
          <a:xfrm>
            <a:off x="819150" y="19113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검색 요청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CFAB824-BC99-6ABF-2670-CA7985EF6526}"/>
              </a:ext>
            </a:extLst>
          </p:cNvPr>
          <p:cNvSpPr>
            <a:spLocks noGrp="1"/>
          </p:cNvSpPr>
          <p:nvPr/>
        </p:nvSpPr>
        <p:spPr>
          <a:xfrm>
            <a:off x="838200" y="2263775"/>
            <a:ext cx="1466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</a:rPr>
              <a:t>GET /price-search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 dirty="0">
                <a:solidFill>
                  <a:srgbClr val="425466"/>
                </a:solidFill>
              </a:rPr>
              <a:t>keyword </a:t>
            </a:r>
            <a:r>
              <a:rPr sz="1125" dirty="0" err="1">
                <a:solidFill>
                  <a:srgbClr val="425466"/>
                </a:solidFill>
              </a:rPr>
              <a:t>검증</a:t>
            </a:r>
            <a:endParaRPr sz="1125" dirty="0">
              <a:solidFill>
                <a:srgbClr val="425466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4855D2E-01EA-0541-B078-2C40ADC91C16}"/>
              </a:ext>
            </a:extLst>
          </p:cNvPr>
          <p:cNvSpPr>
            <a:spLocks noGrp="1"/>
          </p:cNvSpPr>
          <p:nvPr/>
        </p:nvSpPr>
        <p:spPr>
          <a:xfrm>
            <a:off x="2886075" y="1749425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DDF3EC"/>
          </a:solidFill>
          <a:ln w="9525">
            <a:solidFill>
              <a:srgbClr val="188A6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B81231-A7CC-3C40-9418-90A9780E3C38}"/>
              </a:ext>
            </a:extLst>
          </p:cNvPr>
          <p:cNvSpPr>
            <a:spLocks noGrp="1"/>
          </p:cNvSpPr>
          <p:nvPr/>
        </p:nvSpPr>
        <p:spPr>
          <a:xfrm>
            <a:off x="3038475" y="19113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크롤링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CCF6BA-05CA-5A7D-B426-A89BA166BD6A}"/>
              </a:ext>
            </a:extLst>
          </p:cNvPr>
          <p:cNvSpPr>
            <a:spLocks noGrp="1"/>
          </p:cNvSpPr>
          <p:nvPr/>
        </p:nvSpPr>
        <p:spPr>
          <a:xfrm>
            <a:off x="3057525" y="2263775"/>
            <a:ext cx="1466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Crawler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search 실행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결과 수집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F2B5518-1CC6-40A2-2FEC-01014628F34B}"/>
              </a:ext>
            </a:extLst>
          </p:cNvPr>
          <p:cNvSpPr>
            <a:spLocks noGrp="1"/>
          </p:cNvSpPr>
          <p:nvPr/>
        </p:nvSpPr>
        <p:spPr>
          <a:xfrm>
            <a:off x="5105400" y="1749425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E7EEFF"/>
          </a:solidFill>
          <a:ln w="9525">
            <a:solidFill>
              <a:srgbClr val="1F5E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15C921-4A50-0296-C6DC-9A36632FE861}"/>
              </a:ext>
            </a:extLst>
          </p:cNvPr>
          <p:cNvSpPr>
            <a:spLocks noGrp="1"/>
          </p:cNvSpPr>
          <p:nvPr/>
        </p:nvSpPr>
        <p:spPr>
          <a:xfrm>
            <a:off x="5257800" y="19113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정규화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3E7A58-EEC3-B6EE-C79E-41920319227D}"/>
              </a:ext>
            </a:extLst>
          </p:cNvPr>
          <p:cNvSpPr>
            <a:spLocks noGrp="1"/>
          </p:cNvSpPr>
          <p:nvPr/>
        </p:nvSpPr>
        <p:spPr>
          <a:xfrm>
            <a:off x="5276850" y="2263775"/>
            <a:ext cx="1466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가격 제거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기간 추출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렌탈 단어 정리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22C209F-E27F-DEF9-998E-954F1D4EE395}"/>
              </a:ext>
            </a:extLst>
          </p:cNvPr>
          <p:cNvSpPr>
            <a:spLocks noGrp="1"/>
          </p:cNvSpPr>
          <p:nvPr/>
        </p:nvSpPr>
        <p:spPr>
          <a:xfrm>
            <a:off x="7324725" y="1749425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FFF0D6"/>
          </a:solidFill>
          <a:ln w="9525">
            <a:solidFill>
              <a:srgbClr val="C47A1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256292C-79E8-3502-4CCD-1334F143BA2E}"/>
              </a:ext>
            </a:extLst>
          </p:cNvPr>
          <p:cNvSpPr>
            <a:spLocks noGrp="1"/>
          </p:cNvSpPr>
          <p:nvPr/>
        </p:nvSpPr>
        <p:spPr>
          <a:xfrm>
            <a:off x="7477125" y="19113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매칭 평가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81CB1F-6543-C57B-F71D-AD480B583303}"/>
              </a:ext>
            </a:extLst>
          </p:cNvPr>
          <p:cNvSpPr>
            <a:spLocks noGrp="1"/>
          </p:cNvSpPr>
          <p:nvPr/>
        </p:nvSpPr>
        <p:spPr>
          <a:xfrm>
            <a:off x="7496175" y="2263775"/>
            <a:ext cx="1466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모델코드·토큰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제외어 판정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6714FFF-0C92-FDCA-48F5-628C1C82A6F3}"/>
              </a:ext>
            </a:extLst>
          </p:cNvPr>
          <p:cNvSpPr>
            <a:spLocks noGrp="1"/>
          </p:cNvSpPr>
          <p:nvPr/>
        </p:nvSpPr>
        <p:spPr>
          <a:xfrm>
            <a:off x="9544050" y="1749425"/>
            <a:ext cx="1809750" cy="1428750"/>
          </a:xfrm>
          <a:prstGeom prst="roundRect">
            <a:avLst>
              <a:gd name="adj" fmla="val 5333"/>
            </a:avLst>
          </a:prstGeom>
          <a:solidFill>
            <a:srgbClr val="ECEAFF"/>
          </a:solidFill>
          <a:ln w="9525">
            <a:solidFill>
              <a:srgbClr val="635B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00217E-C717-5D4E-DC54-AF93F48B9EF1}"/>
              </a:ext>
            </a:extLst>
          </p:cNvPr>
          <p:cNvSpPr>
            <a:spLocks noGrp="1"/>
          </p:cNvSpPr>
          <p:nvPr/>
        </p:nvSpPr>
        <p:spPr>
          <a:xfrm>
            <a:off x="9696450" y="19113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결과 저장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EADFF40-103C-044A-37F1-208AA4EAC66E}"/>
              </a:ext>
            </a:extLst>
          </p:cNvPr>
          <p:cNvSpPr>
            <a:spLocks noGrp="1"/>
          </p:cNvSpPr>
          <p:nvPr/>
        </p:nvSpPr>
        <p:spPr>
          <a:xfrm>
            <a:off x="9715500" y="2263775"/>
            <a:ext cx="14668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SearchLog</a:t>
            </a:r>
          </a:p>
          <a:p>
            <a:pPr algn="ctr">
              <a:defRPr sz="1125">
                <a:solidFill>
                  <a:srgbClr val="425466"/>
                </a:solidFill>
              </a:defRPr>
            </a:pPr>
            <a:r>
              <a:rPr sz="1125">
                <a:solidFill>
                  <a:srgbClr val="425466"/>
                </a:solidFill>
              </a:rPr>
              <a:t>PriceResult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318D371-1AC9-7FE2-157D-9F9D6555F1D4}"/>
              </a:ext>
            </a:extLst>
          </p:cNvPr>
          <p:cNvSpPr>
            <a:spLocks noGrp="1"/>
          </p:cNvSpPr>
          <p:nvPr/>
        </p:nvSpPr>
        <p:spPr>
          <a:xfrm>
            <a:off x="895350" y="4875934"/>
            <a:ext cx="3238500" cy="7239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6020B47-0D6A-6A51-9D61-2953E6D8908A}"/>
              </a:ext>
            </a:extLst>
          </p:cNvPr>
          <p:cNvSpPr>
            <a:spLocks noGrp="1"/>
          </p:cNvSpPr>
          <p:nvPr/>
        </p:nvSpPr>
        <p:spPr>
          <a:xfrm>
            <a:off x="895350" y="4875934"/>
            <a:ext cx="57150" cy="723900"/>
          </a:xfrm>
          <a:prstGeom prst="rect">
            <a:avLst/>
          </a:prstGeom>
          <a:solidFill>
            <a:srgbClr val="188A6A"/>
          </a:solidFill>
          <a:ln w="0">
            <a:noFill/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5F8A71D-0FEC-E857-3097-85411AECD9A0}"/>
              </a:ext>
            </a:extLst>
          </p:cNvPr>
          <p:cNvSpPr>
            <a:spLocks noGrp="1"/>
          </p:cNvSpPr>
          <p:nvPr/>
        </p:nvSpPr>
        <p:spPr>
          <a:xfrm>
            <a:off x="1104900" y="5066434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자동 검증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E50FFA7-D51D-CAF0-50A6-2FA4D9851DB7}"/>
              </a:ext>
            </a:extLst>
          </p:cNvPr>
          <p:cNvSpPr>
            <a:spLocks noGrp="1"/>
          </p:cNvSpPr>
          <p:nvPr/>
        </p:nvSpPr>
        <p:spPr>
          <a:xfrm>
            <a:off x="4610100" y="4875934"/>
            <a:ext cx="3238500" cy="7239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65BAD95-5976-8DF5-BD5D-BEB664CFDDB2}"/>
              </a:ext>
            </a:extLst>
          </p:cNvPr>
          <p:cNvSpPr>
            <a:spLocks noGrp="1"/>
          </p:cNvSpPr>
          <p:nvPr/>
        </p:nvSpPr>
        <p:spPr>
          <a:xfrm>
            <a:off x="4610100" y="4875934"/>
            <a:ext cx="57150" cy="723900"/>
          </a:xfrm>
          <a:prstGeom prst="rect">
            <a:avLst/>
          </a:prstGeom>
          <a:solidFill>
            <a:srgbClr val="1F5EFF"/>
          </a:solidFill>
          <a:ln w="0">
            <a:noFill/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D38D26F-F199-1306-5DFA-9CCC52F9F8E9}"/>
              </a:ext>
            </a:extLst>
          </p:cNvPr>
          <p:cNvSpPr>
            <a:spLocks noGrp="1"/>
          </p:cNvSpPr>
          <p:nvPr/>
        </p:nvSpPr>
        <p:spPr>
          <a:xfrm>
            <a:off x="4819650" y="5066434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운영자 판단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FDC06DF-70A5-A0DC-0565-529B433BAF36}"/>
              </a:ext>
            </a:extLst>
          </p:cNvPr>
          <p:cNvSpPr>
            <a:spLocks noGrp="1"/>
          </p:cNvSpPr>
          <p:nvPr/>
        </p:nvSpPr>
        <p:spPr>
          <a:xfrm>
            <a:off x="8324850" y="4875934"/>
            <a:ext cx="3238500" cy="7239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A9586C-DC56-C96D-464E-5F67E6BD3F5E}"/>
              </a:ext>
            </a:extLst>
          </p:cNvPr>
          <p:cNvSpPr>
            <a:spLocks noGrp="1"/>
          </p:cNvSpPr>
          <p:nvPr/>
        </p:nvSpPr>
        <p:spPr>
          <a:xfrm>
            <a:off x="8324850" y="4875934"/>
            <a:ext cx="57150" cy="723900"/>
          </a:xfrm>
          <a:prstGeom prst="rect">
            <a:avLst/>
          </a:prstGeom>
          <a:solidFill>
            <a:srgbClr val="C47A10"/>
          </a:solidFill>
          <a:ln w="0">
            <a:noFill/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FDDC011-DAD4-5AF0-C5E3-A6C8D18589DA}"/>
              </a:ext>
            </a:extLst>
          </p:cNvPr>
          <p:cNvSpPr>
            <a:spLocks noGrp="1"/>
          </p:cNvSpPr>
          <p:nvPr/>
        </p:nvSpPr>
        <p:spPr>
          <a:xfrm>
            <a:off x="8534400" y="5066434"/>
            <a:ext cx="2819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추적 점검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186D107-9145-9447-A8A1-231ACFD6C0A0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2476500" y="2463800"/>
            <a:ext cx="4095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6A8604C-7335-1A3A-FF9C-7D3B8881835E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4695825" y="2463800"/>
            <a:ext cx="4095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917BCF18-E310-C0F2-9491-5961D27BDEDE}"/>
              </a:ext>
            </a:extLst>
          </p:cNvPr>
          <p:cNvCxnSpPr>
            <a:stCxn id="14" idx="3"/>
            <a:endCxn id="19" idx="1"/>
          </p:cNvCxnSpPr>
          <p:nvPr/>
        </p:nvCxnSpPr>
        <p:spPr>
          <a:xfrm>
            <a:off x="6915150" y="2463800"/>
            <a:ext cx="4095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30AF199D-6D15-D901-21F7-51CB25E9DA16}"/>
              </a:ext>
            </a:extLst>
          </p:cNvPr>
          <p:cNvCxnSpPr>
            <a:stCxn id="19" idx="3"/>
            <a:endCxn id="24" idx="1"/>
          </p:cNvCxnSpPr>
          <p:nvPr/>
        </p:nvCxnSpPr>
        <p:spPr>
          <a:xfrm>
            <a:off x="9134475" y="2463800"/>
            <a:ext cx="4095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30A44D6-3840-0A18-4D3D-A3C23DAA6B70}"/>
              </a:ext>
            </a:extLst>
          </p:cNvPr>
          <p:cNvSpPr/>
          <p:nvPr/>
        </p:nvSpPr>
        <p:spPr>
          <a:xfrm>
            <a:off x="628650" y="4590183"/>
            <a:ext cx="11182350" cy="142874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아래쪽 55">
            <a:extLst>
              <a:ext uri="{FF2B5EF4-FFF2-40B4-BE49-F238E27FC236}">
                <a16:creationId xmlns:a16="http://schemas.microsoft.com/office/drawing/2014/main" id="{E5A0F846-A452-8A8C-FB9C-8FC4C3213610}"/>
              </a:ext>
            </a:extLst>
          </p:cNvPr>
          <p:cNvSpPr/>
          <p:nvPr/>
        </p:nvSpPr>
        <p:spPr>
          <a:xfrm>
            <a:off x="7848600" y="3327400"/>
            <a:ext cx="857250" cy="1428740"/>
          </a:xfrm>
          <a:prstGeom prst="downArrow">
            <a:avLst/>
          </a:prstGeom>
          <a:solidFill>
            <a:srgbClr val="188A6A"/>
          </a:solidFill>
          <a:ln>
            <a:solidFill>
              <a:srgbClr val="188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2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D05A4-B46A-6F36-4972-21A7E97F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3D4AA-788F-3E3F-DAF8-0D8DEA40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상품 최저가 비교 </a:t>
            </a:r>
            <a:r>
              <a:rPr lang="en-US" altLang="ko-KR" dirty="0"/>
              <a:t>PoC </a:t>
            </a:r>
            <a:r>
              <a:rPr lang="ko-KR" altLang="en-US" dirty="0"/>
              <a:t>프로젝트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9709BE1-4478-2C10-46B4-96E17C18753A}"/>
              </a:ext>
            </a:extLst>
          </p:cNvPr>
          <p:cNvSpPr>
            <a:spLocks noGrp="1"/>
          </p:cNvSpPr>
          <p:nvPr/>
        </p:nvSpPr>
        <p:spPr>
          <a:xfrm>
            <a:off x="1035050" y="276860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E7EEFF"/>
          </a:solidFill>
          <a:ln w="9525">
            <a:solidFill>
              <a:srgbClr val="1F5E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222E84-108A-7523-E75C-80115C3479ED}"/>
              </a:ext>
            </a:extLst>
          </p:cNvPr>
          <p:cNvSpPr>
            <a:spLocks noGrp="1"/>
          </p:cNvSpPr>
          <p:nvPr/>
        </p:nvSpPr>
        <p:spPr>
          <a:xfrm>
            <a:off x="1187450" y="2930524"/>
            <a:ext cx="21717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 dirty="0">
                <a:solidFill>
                  <a:srgbClr val="102033"/>
                </a:solidFill>
              </a:rPr>
              <a:t>Mock Shopping Mall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214C68-6D05-E7FC-4A01-D2EF8EC9B67D}"/>
              </a:ext>
            </a:extLst>
          </p:cNvPr>
          <p:cNvSpPr>
            <a:spLocks noGrp="1"/>
          </p:cNvSpPr>
          <p:nvPr/>
        </p:nvSpPr>
        <p:spPr>
          <a:xfrm>
            <a:off x="5035550" y="2768600"/>
            <a:ext cx="2476500" cy="1524000"/>
          </a:xfrm>
          <a:prstGeom prst="roundRect">
            <a:avLst>
              <a:gd name="adj" fmla="val 5000"/>
            </a:avLst>
          </a:prstGeom>
          <a:solidFill>
            <a:srgbClr val="DDF3EC"/>
          </a:solidFill>
          <a:ln w="9525">
            <a:solidFill>
              <a:srgbClr val="188A6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9794B4-82BD-6B1F-100B-7298DB4D0930}"/>
              </a:ext>
            </a:extLst>
          </p:cNvPr>
          <p:cNvSpPr>
            <a:spLocks noGrp="1"/>
          </p:cNvSpPr>
          <p:nvPr/>
        </p:nvSpPr>
        <p:spPr>
          <a:xfrm>
            <a:off x="5187950" y="2930525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Monitoring App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36DCF23-7600-7FFA-F001-36AC78CC761C}"/>
              </a:ext>
            </a:extLst>
          </p:cNvPr>
          <p:cNvSpPr>
            <a:spLocks noGrp="1"/>
          </p:cNvSpPr>
          <p:nvPr/>
        </p:nvSpPr>
        <p:spPr>
          <a:xfrm>
            <a:off x="9036050" y="2768600"/>
            <a:ext cx="2095500" cy="1524000"/>
          </a:xfrm>
          <a:prstGeom prst="roundRect">
            <a:avLst>
              <a:gd name="adj" fmla="val 5000"/>
            </a:avLst>
          </a:prstGeom>
          <a:solidFill>
            <a:srgbClr val="FFF0D6"/>
          </a:solidFill>
          <a:ln w="9525">
            <a:solidFill>
              <a:srgbClr val="C47A1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C9FC2DC-2C03-23CE-05B8-C8F5AD3E5798}"/>
              </a:ext>
            </a:extLst>
          </p:cNvPr>
          <p:cNvSpPr>
            <a:spLocks noGrp="1"/>
          </p:cNvSpPr>
          <p:nvPr/>
        </p:nvSpPr>
        <p:spPr>
          <a:xfrm>
            <a:off x="9188450" y="2930525"/>
            <a:ext cx="1790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</a:rPr>
              <a:t>테스트 결과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9B9AF0B-0A53-C5DF-AE7D-DEB19E5A80DD}"/>
              </a:ext>
            </a:extLst>
          </p:cNvPr>
          <p:cNvSpPr>
            <a:spLocks noGrp="1"/>
          </p:cNvSpPr>
          <p:nvPr/>
        </p:nvSpPr>
        <p:spPr>
          <a:xfrm>
            <a:off x="2286000" y="1790699"/>
            <a:ext cx="10096500" cy="33813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02033"/>
                </a:solidFill>
              </a:defRPr>
            </a:pPr>
            <a:r>
              <a:rPr lang="ko-KR" altLang="en-US" sz="1950" b="1" dirty="0">
                <a:solidFill>
                  <a:srgbClr val="102033"/>
                </a:solidFill>
              </a:rPr>
              <a:t>추적 등록된 상품 가격 변동 시</a:t>
            </a:r>
            <a:r>
              <a:rPr lang="en-US" altLang="ko-KR" sz="1950" b="1" dirty="0">
                <a:solidFill>
                  <a:srgbClr val="102033"/>
                </a:solidFill>
              </a:rPr>
              <a:t>, </a:t>
            </a:r>
            <a:r>
              <a:rPr lang="ko-KR" altLang="en-US" sz="1950" b="1" dirty="0">
                <a:solidFill>
                  <a:srgbClr val="102033"/>
                </a:solidFill>
              </a:rPr>
              <a:t>이력 조회 및 알림 서비스 동작 테스트</a:t>
            </a:r>
            <a:endParaRPr sz="1950" b="1" dirty="0">
              <a:solidFill>
                <a:srgbClr val="102033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D34E7B-1C43-D0C7-30DC-B666E70D2677}"/>
              </a:ext>
            </a:extLst>
          </p:cNvPr>
          <p:cNvSpPr/>
          <p:nvPr/>
        </p:nvSpPr>
        <p:spPr>
          <a:xfrm>
            <a:off x="1168400" y="3540125"/>
            <a:ext cx="22479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임의의 상품등록</a:t>
            </a:r>
            <a:br>
              <a:rPr lang="en-US" altLang="ko-KR" sz="1400" dirty="0">
                <a:solidFill>
                  <a:schemeClr val="tx1"/>
                </a:solidFill>
              </a:rPr>
            </a:b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상품코드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명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가격 등록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B24CE9-A2E2-F90F-36D9-67C314446D51}"/>
              </a:ext>
            </a:extLst>
          </p:cNvPr>
          <p:cNvSpPr/>
          <p:nvPr/>
        </p:nvSpPr>
        <p:spPr>
          <a:xfrm>
            <a:off x="5187950" y="3516312"/>
            <a:ext cx="22479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상품 조회 </a:t>
            </a:r>
            <a:r>
              <a:rPr lang="ko-KR" altLang="en-US" sz="1400" dirty="0" err="1">
                <a:solidFill>
                  <a:schemeClr val="tx1"/>
                </a:solidFill>
              </a:rPr>
              <a:t>크롤링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5C8B7E3-C250-458A-3330-FAE51CD5BD80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3511550" y="3530600"/>
            <a:ext cx="15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3B65BC6-2AC1-4706-ABB3-09303F52BF72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7512050" y="3530600"/>
            <a:ext cx="152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F36151A-DE79-13B6-4765-3186DDEFC581}"/>
              </a:ext>
            </a:extLst>
          </p:cNvPr>
          <p:cNvSpPr/>
          <p:nvPr/>
        </p:nvSpPr>
        <p:spPr>
          <a:xfrm>
            <a:off x="9169400" y="3460750"/>
            <a:ext cx="1828800" cy="571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상품 가격 변경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감지 확인</a:t>
            </a:r>
          </a:p>
        </p:txBody>
      </p:sp>
    </p:spTree>
    <p:extLst>
      <p:ext uri="{BB962C8B-B14F-4D97-AF65-F5344CB8AC3E}">
        <p14:creationId xmlns:p14="http://schemas.microsoft.com/office/powerpoint/2010/main" val="327486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E2E1-8776-4840-8BA7-3E8F6865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5332ED-7A53-6DED-633D-1ED330FE5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계획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9B8B47C-CAA8-8570-F065-A165813BA44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2381250" cy="28098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E762EA7-C3DD-9F6B-2BB3-17F74E8E626F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57150" cy="2809875"/>
          </a:xfrm>
          <a:prstGeom prst="rect">
            <a:avLst/>
          </a:prstGeom>
          <a:solidFill>
            <a:srgbClr val="188A6A"/>
          </a:solidFill>
          <a:ln w="0">
            <a:noFill/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F3C251-7B4A-ADBB-F723-06350346D666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1단계</a:t>
            </a:r>
          </a:p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운영 안정화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DD4B81-F513-B988-51BF-54AE73B4A9F1}"/>
              </a:ext>
            </a:extLst>
          </p:cNvPr>
          <p:cNvSpPr>
            <a:spLocks noGrp="1"/>
          </p:cNvSpPr>
          <p:nvPr/>
        </p:nvSpPr>
        <p:spPr>
          <a:xfrm>
            <a:off x="971550" y="2590800"/>
            <a:ext cx="196215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425466"/>
                </a:solidFill>
              </a:defRPr>
            </a:pPr>
            <a:r>
              <a:rPr sz="1275" dirty="0" err="1">
                <a:solidFill>
                  <a:srgbClr val="425466"/>
                </a:solidFill>
              </a:rPr>
              <a:t>크롤러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실패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유형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세분화</a:t>
            </a:r>
            <a:endParaRPr sz="1275" dirty="0">
              <a:solidFill>
                <a:srgbClr val="425466"/>
              </a:solidFill>
            </a:endParaRP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 dirty="0" err="1">
                <a:solidFill>
                  <a:srgbClr val="425466"/>
                </a:solidFill>
              </a:rPr>
              <a:t>재시도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정책과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타임아웃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조정</a:t>
            </a:r>
            <a:endParaRPr sz="1275" dirty="0">
              <a:solidFill>
                <a:srgbClr val="425466"/>
              </a:solidFill>
            </a:endParaRP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 dirty="0" err="1">
                <a:solidFill>
                  <a:srgbClr val="425466"/>
                </a:solidFill>
              </a:rPr>
              <a:t>운영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로그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화면</a:t>
            </a:r>
            <a:r>
              <a:rPr sz="1275" dirty="0">
                <a:solidFill>
                  <a:srgbClr val="425466"/>
                </a:solidFill>
              </a:rPr>
              <a:t> </a:t>
            </a:r>
            <a:r>
              <a:rPr sz="1275" dirty="0" err="1">
                <a:solidFill>
                  <a:srgbClr val="425466"/>
                </a:solidFill>
              </a:rPr>
              <a:t>보강</a:t>
            </a:r>
            <a:endParaRPr sz="1275" dirty="0">
              <a:solidFill>
                <a:srgbClr val="425466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FB2D68A-3325-7962-542E-E538F9FE9C92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2381250" cy="28098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B009DC-0C40-3546-46AE-B383E2173AAB}"/>
              </a:ext>
            </a:extLst>
          </p:cNvPr>
          <p:cNvSpPr>
            <a:spLocks noGrp="1"/>
          </p:cNvSpPr>
          <p:nvPr/>
        </p:nvSpPr>
        <p:spPr>
          <a:xfrm>
            <a:off x="3524250" y="1790700"/>
            <a:ext cx="57150" cy="2809875"/>
          </a:xfrm>
          <a:prstGeom prst="rect">
            <a:avLst/>
          </a:prstGeom>
          <a:solidFill>
            <a:srgbClr val="1F5EFF"/>
          </a:solidFill>
          <a:ln w="0">
            <a:noFill/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CEEC3E-ABD0-B421-E8F0-838B2C25F98F}"/>
              </a:ext>
            </a:extLst>
          </p:cNvPr>
          <p:cNvSpPr>
            <a:spLocks noGrp="1"/>
          </p:cNvSpPr>
          <p:nvPr/>
        </p:nvSpPr>
        <p:spPr>
          <a:xfrm>
            <a:off x="3733800" y="198120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2단계</a:t>
            </a:r>
          </a:p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자동화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978EDA-01B9-C8C6-2385-93249E9AD2F1}"/>
              </a:ext>
            </a:extLst>
          </p:cNvPr>
          <p:cNvSpPr>
            <a:spLocks noGrp="1"/>
          </p:cNvSpPr>
          <p:nvPr/>
        </p:nvSpPr>
        <p:spPr>
          <a:xfrm>
            <a:off x="3733800" y="2590800"/>
            <a:ext cx="196215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스케줄 기반 주기 수집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가격 하락 알림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관심 상품 일괄 재조회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2FC8A2-E69E-C022-ECAA-809B7E624B4A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2381250" cy="28098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5EF2CB-8362-92DB-75E3-9E76B4892BA8}"/>
              </a:ext>
            </a:extLst>
          </p:cNvPr>
          <p:cNvSpPr>
            <a:spLocks noGrp="1"/>
          </p:cNvSpPr>
          <p:nvPr/>
        </p:nvSpPr>
        <p:spPr>
          <a:xfrm>
            <a:off x="6286500" y="1790700"/>
            <a:ext cx="57150" cy="2809875"/>
          </a:xfrm>
          <a:prstGeom prst="rect">
            <a:avLst/>
          </a:prstGeom>
          <a:solidFill>
            <a:srgbClr val="C47A10"/>
          </a:solidFill>
          <a:ln w="0">
            <a:noFill/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657E5E-3CF5-0EBE-F990-1E2EC1730792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3단계</a:t>
            </a:r>
          </a:p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확장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1E5728-D0F9-2DC1-0FF4-9E9C3F1A68CF}"/>
              </a:ext>
            </a:extLst>
          </p:cNvPr>
          <p:cNvSpPr>
            <a:spLocks noGrp="1"/>
          </p:cNvSpPr>
          <p:nvPr/>
        </p:nvSpPr>
        <p:spPr>
          <a:xfrm>
            <a:off x="6496050" y="2590800"/>
            <a:ext cx="196215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다중 쇼핑몰 커넥터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크롤러 소스 관리 UI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상품군별 매칭 규칙 확장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D6F4156-DB54-E112-6B4C-716C46FFD34C}"/>
              </a:ext>
            </a:extLst>
          </p:cNvPr>
          <p:cNvSpPr>
            <a:spLocks noGrp="1"/>
          </p:cNvSpPr>
          <p:nvPr/>
        </p:nvSpPr>
        <p:spPr>
          <a:xfrm>
            <a:off x="9048750" y="1790700"/>
            <a:ext cx="2381250" cy="2809875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7DE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1F30349-7EA5-0E57-A9DD-2BA831CBF6A7}"/>
              </a:ext>
            </a:extLst>
          </p:cNvPr>
          <p:cNvSpPr>
            <a:spLocks noGrp="1"/>
          </p:cNvSpPr>
          <p:nvPr/>
        </p:nvSpPr>
        <p:spPr>
          <a:xfrm>
            <a:off x="9048750" y="1790700"/>
            <a:ext cx="57150" cy="2809875"/>
          </a:xfrm>
          <a:prstGeom prst="rect">
            <a:avLst/>
          </a:prstGeom>
          <a:solidFill>
            <a:srgbClr val="635BFF"/>
          </a:solidFill>
          <a:ln w="0">
            <a:noFill/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BC03DF-5836-30E0-4841-FB3A558041B2}"/>
              </a:ext>
            </a:extLst>
          </p:cNvPr>
          <p:cNvSpPr>
            <a:spLocks noGrp="1"/>
          </p:cNvSpPr>
          <p:nvPr/>
        </p:nvSpPr>
        <p:spPr>
          <a:xfrm>
            <a:off x="9258300" y="1981200"/>
            <a:ext cx="1962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4단계</a:t>
            </a:r>
          </a:p>
          <a:p>
            <a:pPr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</a:rPr>
              <a:t>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5308E7E-C137-DCF4-E6D4-EF5D08EB7B79}"/>
              </a:ext>
            </a:extLst>
          </p:cNvPr>
          <p:cNvSpPr>
            <a:spLocks noGrp="1"/>
          </p:cNvSpPr>
          <p:nvPr/>
        </p:nvSpPr>
        <p:spPr>
          <a:xfrm>
            <a:off x="9258300" y="2590800"/>
            <a:ext cx="1962150" cy="1895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가격 추세 차트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최저가/평균가 리포트</a:t>
            </a:r>
          </a:p>
          <a:p>
            <a:pPr>
              <a:defRPr sz="1275">
                <a:solidFill>
                  <a:srgbClr val="425466"/>
                </a:solidFill>
              </a:defRPr>
            </a:pPr>
            <a:r>
              <a:rPr sz="1275">
                <a:solidFill>
                  <a:srgbClr val="425466"/>
                </a:solidFill>
              </a:rPr>
              <a:t>운영 KPI 대시보드</a:t>
            </a:r>
          </a:p>
        </p:txBody>
      </p:sp>
    </p:spTree>
    <p:extLst>
      <p:ext uri="{BB962C8B-B14F-4D97-AF65-F5344CB8AC3E}">
        <p14:creationId xmlns:p14="http://schemas.microsoft.com/office/powerpoint/2010/main" val="186100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FC352-0D44-09F8-354A-2172DC2A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1A0F2D3-C877-9B18-98BB-47DF4977EF69}"/>
              </a:ext>
            </a:extLst>
          </p:cNvPr>
          <p:cNvSpPr>
            <a:spLocks noGrp="1"/>
          </p:cNvSpPr>
          <p:nvPr/>
        </p:nvSpPr>
        <p:spPr>
          <a:xfrm>
            <a:off x="4425865" y="2973820"/>
            <a:ext cx="3340270" cy="9103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350" b="1">
                <a:solidFill>
                  <a:srgbClr val="102033"/>
                </a:solidFill>
              </a:defRPr>
            </a:pPr>
            <a:r>
              <a:rPr lang="ko-KR" altLang="en-US" sz="4800" b="1" dirty="0">
                <a:solidFill>
                  <a:srgbClr val="102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endParaRPr sz="4800" b="1" dirty="0">
              <a:solidFill>
                <a:srgbClr val="1020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310986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457</Words>
  <Application>Microsoft Office PowerPoint</Application>
  <DocSecurity>0</DocSecurity>
  <PresentationFormat>와이드스크린</PresentationFormat>
  <Paragraphs>136</Paragraphs>
  <Slides>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Calibri</vt:lpstr>
      <vt:lpstr>디자인 사용자 지정</vt:lpstr>
      <vt:lpstr>PowerPoint 프레젠테이션</vt:lpstr>
      <vt:lpstr>프로젝트 목차</vt:lpstr>
      <vt:lpstr>프로젝트 개요</vt:lpstr>
      <vt:lpstr>시스템 아키텍처</vt:lpstr>
      <vt:lpstr>상품 최저가 비교 PoC 프로젝트</vt:lpstr>
      <vt:lpstr>상품 최저가 비교 PoC 프로젝트</vt:lpstr>
      <vt:lpstr>상품 최저가 비교 PoC 프로젝트</vt:lpstr>
      <vt:lpstr>향후 계획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yhjeong</cp:lastModifiedBy>
  <cp:revision>10</cp:revision>
  <dcterms:created xsi:type="dcterms:W3CDTF">2026-06-23T02:34:43Z</dcterms:created>
  <dcterms:modified xsi:type="dcterms:W3CDTF">2026-06-23T07:08:59Z</dcterms:modified>
</cp:coreProperties>
</file>